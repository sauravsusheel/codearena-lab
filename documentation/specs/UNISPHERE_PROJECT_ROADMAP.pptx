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37160" cy="3474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554480"/>
            <a:ext cx="9601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UNISPHERE UNIVERSITY ECOSYSTEM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Master Engineering Timeline, Team-Wise Workflows &amp; Unified Integration Roadmap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7 Specialized Modules | 21 Student Engineers (3 per Team) | 16-Week Implementation</a:t>
            </a:r>
            <a:br/>
            <a:r>
              <a:t>HRMS • Smart Attendance • AI Exams • Code Arena • AI Presentations • RAG Bot • UniHub</a:t>
            </a:r>
          </a:p>
          <a:p>
            <a:pPr>
              <a:defRPr sz="1100" i="1">
                <a:solidFill>
                  <a:srgbClr val="64748B"/>
                </a:solidFill>
                <a:latin typeface="Calibri"/>
              </a:defRPr>
            </a:pPr>
            <a:r>
              <a:t>Chanakya University • Senior Lead Architect &amp; Cybersecurity Specification • Academic Year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Calibri"/>
              </a:defRPr>
            </a:pPr>
            <a:r>
              <a:t>SYSTEM SCOPE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A"/>
                </a:solidFill>
                <a:latin typeface="Calibri"/>
              </a:defRPr>
            </a:pPr>
            <a:r>
              <a:t>Executive Vision: 7 Specialized Academic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Module 1: EduHRMS</a:t>
            </a:r>
          </a:p>
          <a:p>
            <a:pPr>
              <a:spcAft>
                <a:spcPts val="400"/>
              </a:spcAft>
              <a:defRPr sz="1050" b="1">
                <a:solidFill>
                  <a:srgbClr val="0D9488"/>
                </a:solidFill>
                <a:latin typeface="Calibri"/>
              </a:defRPr>
            </a:pPr>
            <a:r>
              <a:t>Enterprise Academic HRMS &amp; Staff Attendance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Faculty profiles, leave multi-approvals, payroll slips, workload balancing.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Module 2: EduAttend AI</a:t>
            </a:r>
          </a:p>
          <a:p>
            <a:pPr>
              <a:spcAft>
                <a:spcPts val="400"/>
              </a:spcAft>
              <a:defRPr sz="1050" b="1">
                <a:solidFill>
                  <a:srgbClr val="0D9488"/>
                </a:solidFill>
                <a:latin typeface="Calibri"/>
              </a:defRPr>
            </a:pPr>
            <a:r>
              <a:t>Smart Attendance &amp; Exam Eligibility Gate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5s rotating QR, GPS polygon geofence, face liveness, 75% exam gate.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Module 3: EduExam AI</a:t>
            </a:r>
          </a:p>
          <a:p>
            <a:pPr>
              <a:spcAft>
                <a:spcPts val="400"/>
              </a:spcAft>
              <a:defRPr sz="1050" b="1">
                <a:solidFill>
                  <a:srgbClr val="0D9488"/>
                </a:solidFill>
                <a:latin typeface="Calibri"/>
              </a:defRPr>
            </a:pPr>
            <a:r>
              <a:t>AI-Proctored Secure Online Examination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Fullscreen lockdown, MediaPipe face/gaze telemetry, auto-sync answers.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Module 4: EduCode Judge</a:t>
            </a:r>
          </a:p>
          <a:p>
            <a:pPr>
              <a:spcAft>
                <a:spcPts val="400"/>
              </a:spcAft>
              <a:defRPr sz="1050" b="1">
                <a:solidFill>
                  <a:srgbClr val="0D9488"/>
                </a:solidFill>
                <a:latin typeface="Calibri"/>
              </a:defRPr>
            </a:pPr>
            <a:r>
              <a:t>Cloud Code Arena &amp; Plagiarism Judge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Monaco IDE, gVisor Docker sandbox, TLE/MLE judge, AST similarity.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79476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9319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Module 5: EduPresent AI</a:t>
            </a:r>
          </a:p>
          <a:p>
            <a:pPr>
              <a:spcAft>
                <a:spcPts val="400"/>
              </a:spcAft>
              <a:defRPr sz="1050" b="1">
                <a:solidFill>
                  <a:srgbClr val="0D9488"/>
                </a:solidFill>
                <a:latin typeface="Calibri"/>
              </a:defRPr>
            </a:pPr>
            <a:r>
              <a:t>AI Presentation &amp; Virtual Viva Platform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WebRTC stage, Whisper speech pace, eye contact, viva question generator.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9476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39319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Module 6: EduAssist AI</a:t>
            </a:r>
          </a:p>
          <a:p>
            <a:pPr>
              <a:spcAft>
                <a:spcPts val="400"/>
              </a:spcAft>
              <a:defRPr sz="1050" b="1">
                <a:solidFill>
                  <a:srgbClr val="0D9488"/>
                </a:solidFill>
                <a:latin typeface="Calibri"/>
              </a:defRPr>
            </a:pPr>
            <a:r>
              <a:t>RAG Campus Knowledge Base Assistant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PostgreSQL pgvector, handbook/policy Q&amp;A, cited answers, code tutor.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126480"/>
            <a:ext cx="10698480" cy="914400"/>
          </a:xfrm>
          <a:prstGeom prst="roundRect">
            <a:avLst/>
          </a:prstGeom>
          <a:solidFill>
            <a:srgbClr val="0F294A"/>
          </a:solidFill>
          <a:ln w="12700">
            <a:solidFill>
              <a:srgbClr val="0F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Calibri"/>
              </a:defRPr>
            </a:pPr>
            <a:r>
              <a:t>MODULE 7: UNIHUB GIT &amp; RESEARCH ARCHIVE + UNIFIED SINGLE SIGN-ON GATEWAY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Provides institutional Git hosting, research paper DOI tracking, and live campus innovation feeds, all unified by a Central JWT Auth SSO Gateway.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Calibri"/>
              </a:defRPr>
            </a:pPr>
            <a:r>
              <a:t>EXECUTION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A"/>
                </a:solidFill>
                <a:latin typeface="Calibri"/>
              </a:defRPr>
            </a:pPr>
            <a:r>
              <a:t>16-Week Semester Engineering Timeline (6 Sprints)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Sprint 1 (Weeks 1-2)</a:t>
            </a:r>
          </a:p>
          <a:p>
            <a:pPr>
              <a:spcAft>
                <a:spcPts val="400"/>
              </a:spcAft>
              <a:defRPr sz="1050" b="1">
                <a:solidFill>
                  <a:srgbClr val="0D9488"/>
                </a:solidFill>
                <a:latin typeface="Calibri"/>
              </a:defRPr>
            </a:pPr>
            <a:r>
              <a:t>Inception &amp; Schema Freeze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Monorepo scaffold (Turborepo)</a:t>
            </a:r>
            <a:br/>
            <a:r>
              <a:t>• Shared packages/ui setup</a:t>
            </a:r>
            <a:br/>
            <a:r>
              <a:t>• PostgreSQL BCNF schema validation</a:t>
            </a:r>
            <a:br/>
            <a:r>
              <a:t>• OpenAPI contract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Sprint 2 (Weeks 3-4)</a:t>
            </a:r>
          </a:p>
          <a:p>
            <a:pPr>
              <a:spcAft>
                <a:spcPts val="400"/>
              </a:spcAft>
              <a:defRPr sz="1050" b="1">
                <a:solidFill>
                  <a:srgbClr val="0D9488"/>
                </a:solidFill>
                <a:latin typeface="Calibri"/>
              </a:defRPr>
            </a:pPr>
            <a:r>
              <a:t>Core Backend &amp; Auth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Central JWT SSO login &amp; roles</a:t>
            </a:r>
            <a:br/>
            <a:r>
              <a:t>• Express &amp; FastAPI controllers</a:t>
            </a:r>
            <a:br/>
            <a:r>
              <a:t>• Database migrations deployed</a:t>
            </a:r>
            <a:br/>
            <a:r>
              <a:t>• Basic UI mockups in Next.js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Sprint 3 (Weeks 5-6)</a:t>
            </a:r>
          </a:p>
          <a:p>
            <a:pPr>
              <a:spcAft>
                <a:spcPts val="400"/>
              </a:spcAft>
              <a:defRPr sz="1050" b="1">
                <a:solidFill>
                  <a:srgbClr val="0D9488"/>
                </a:solidFill>
                <a:latin typeface="Calibri"/>
              </a:defRPr>
            </a:pPr>
            <a:r>
              <a:t>Domain Core Engine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Leave state machine (Team 1)</a:t>
            </a:r>
            <a:br/>
            <a:r>
              <a:t>• 5s QR &amp; Geofence (Team 2)</a:t>
            </a:r>
            <a:br/>
            <a:r>
              <a:t>• Lockdown exam shell (Team 3)</a:t>
            </a:r>
            <a:br/>
            <a:r>
              <a:t>• gVisor Docker runner (Team 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Sprint 4 (Weeks 7-8)</a:t>
            </a:r>
          </a:p>
          <a:p>
            <a:pPr>
              <a:spcAft>
                <a:spcPts val="400"/>
              </a:spcAft>
              <a:defRPr sz="1050" b="1">
                <a:solidFill>
                  <a:srgbClr val="0D9488"/>
                </a:solidFill>
                <a:latin typeface="Calibri"/>
              </a:defRPr>
            </a:pPr>
            <a:r>
              <a:t>AI &amp; Real-Time Telemetry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WebRTC presentation room (Team 5)</a:t>
            </a:r>
            <a:br/>
            <a:r>
              <a:t>• pgvector RAG pipeline (Team 6)</a:t>
            </a:r>
            <a:br/>
            <a:r>
              <a:t>• Git HTTP smart server (Team 7)</a:t>
            </a:r>
            <a:br/>
            <a:r>
              <a:t>• WebSocket state sync &amp;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79476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9319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Sprint 5 (Weeks 9-10)</a:t>
            </a:r>
          </a:p>
          <a:p>
            <a:pPr>
              <a:spcAft>
                <a:spcPts val="400"/>
              </a:spcAft>
              <a:defRPr sz="1050" b="1">
                <a:solidFill>
                  <a:srgbClr val="0D9488"/>
                </a:solidFill>
                <a:latin typeface="Calibri"/>
              </a:defRPr>
            </a:pPr>
            <a:r>
              <a:t>Security &amp; API Gateway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Reverse proxy ingress setup</a:t>
            </a:r>
            <a:br/>
            <a:r>
              <a:t>• Token blacklist in Redis</a:t>
            </a:r>
            <a:br/>
            <a:r>
              <a:t>• OWASP audit &amp; injection hardening</a:t>
            </a:r>
            <a:br/>
            <a:r>
              <a:t>• Automated Jest test suites (&gt;80%)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9476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39319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Sprint 6 (Weeks 11-12)</a:t>
            </a:r>
          </a:p>
          <a:p>
            <a:pPr>
              <a:spcAft>
                <a:spcPts val="400"/>
              </a:spcAft>
              <a:defRPr sz="1050" b="1">
                <a:solidFill>
                  <a:srgbClr val="0D9488"/>
                </a:solidFill>
                <a:latin typeface="Calibri"/>
              </a:defRPr>
            </a:pPr>
            <a:r>
              <a:t>Master Merge &amp; E2E Tests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Staging branch master merge</a:t>
            </a:r>
            <a:br/>
            <a:r>
              <a:t>• Attendance-to-Exam integration</a:t>
            </a:r>
            <a:br/>
            <a:r>
              <a:t>• Slide-to-Speech viva testing</a:t>
            </a:r>
            <a:br/>
            <a:r>
              <a:t>• Cross-module UI theme harmonization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126480"/>
            <a:ext cx="10698480" cy="914400"/>
          </a:xfrm>
          <a:prstGeom prst="roundRect">
            <a:avLst/>
          </a:prstGeom>
          <a:solidFill>
            <a:srgbClr val="0F294A"/>
          </a:solidFill>
          <a:ln w="12700">
            <a:solidFill>
              <a:srgbClr val="0F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Calibri"/>
              </a:defRPr>
            </a:pPr>
            <a:r>
              <a:t>WEEKS 13-16: LOAD TESTING, FACULTY AUDIT &amp; CAPSTONE LIVE SHOWCASE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Simulate 500 concurrent student logins, conduct live proctored coding exam, test real-time presentation viva, and present the ecosystem.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Calibri"/>
              </a:defRPr>
            </a:pPr>
            <a:r>
              <a:t>TEAM 1 WORKFLOW &amp; ROLE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A"/>
                </a:solidFill>
                <a:latin typeface="Calibri"/>
              </a:defRPr>
            </a:pPr>
            <a:r>
              <a:t>Module 1: Enterprise Academic HRMS (EduHRMS)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0F294A"/>
          </a:solidFill>
          <a:ln w="12700">
            <a:solidFill>
              <a:srgbClr val="0F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Automates faculty and staff dossier lifecycle, multi-tier leave approval state machines, teaching credit-hour allocations, and automated salary slip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1: Frontend &amp; UX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1 (Frontend &amp; UX Lead):</a:t>
            </a:r>
            <a:br/>
            <a:r>
              <a:t>• Build faculty/staff profile dossiers &amp; tenure tracking</a:t>
            </a:r>
            <a:br/>
            <a:r>
              <a:t>• Create multi-level leave request dialogs</a:t>
            </a:r>
            <a:br/>
            <a:r>
              <a:t>• Staff attendance check-in UI with geo-location pins</a:t>
            </a:r>
            <a:br/>
            <a:r>
              <a:t>• Departmental workforce analytics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2: Backend &amp; Logic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2 (Backend &amp; API Lead):</a:t>
            </a:r>
            <a:br/>
            <a:r>
              <a:t>• Implement leave state machine (Faculty -&gt; HOD -&gt; Dean)</a:t>
            </a:r>
            <a:br/>
            <a:r>
              <a:t>• Workload credit-hour balancing algorithm</a:t>
            </a:r>
            <a:br/>
            <a:r>
              <a:t>• Automated payroll engine with PF/tax deductions</a:t>
            </a:r>
            <a:br/>
            <a:r>
              <a:t>• Express REST controllers with Zod schema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3: DevOps &amp; Security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3 (DevOps, Database &amp; Security Lead):</a:t>
            </a:r>
            <a:br/>
            <a:r>
              <a:t>• Design normalized PostgreSQL HR &amp; payroll tables</a:t>
            </a:r>
            <a:br/>
            <a:r>
              <a:t>• Automated PDF payslip generator pipeline (PDFKit)</a:t>
            </a:r>
            <a:br/>
            <a:r>
              <a:t>• RBAC middleware enforcement and JWT claims</a:t>
            </a:r>
            <a:br/>
            <a:r>
              <a:t>• Immutable audit log for sensitive salary adjustments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Calibri"/>
              </a:defRPr>
            </a:pPr>
            <a:r>
              <a:t>TEAM 2 WORKFLOW &amp; ROLE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A"/>
                </a:solidFill>
                <a:latin typeface="Calibri"/>
              </a:defRPr>
            </a:pPr>
            <a:r>
              <a:t>Module 2: Smart Attendance &amp; Exam Gate (EduAttend AI)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0F294A"/>
          </a:solidFill>
          <a:ln w="12700">
            <a:solidFill>
              <a:srgbClr val="0F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Eliminates proxy check-ins using rotating dynamic QR codes, GPS geofencing, and face liveness, while automatically gating student exam eligibility.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1: Frontend &amp; UX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1 (Frontend &amp; Scanner UX Lead):</a:t>
            </a:r>
            <a:br/>
            <a:r>
              <a:t>• Classroom projector dynamic rotating QR display</a:t>
            </a:r>
            <a:br/>
            <a:r>
              <a:t>• Mobile camera QR scanner with permission handling</a:t>
            </a:r>
            <a:br/>
            <a:r>
              <a:t>• Student course-wise attendance tracking cards</a:t>
            </a:r>
            <a:br/>
            <a:r>
              <a:t>• Defaulter warning banner for &lt;75% attendance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2: Backend &amp; Logic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2 (Backend &amp; Geo-Fencing Architect):</a:t>
            </a:r>
            <a:br/>
            <a:r>
              <a:t>• 5-second rotating HMAC-SHA256 QR nonces in Redis</a:t>
            </a:r>
            <a:br/>
            <a:r>
              <a:t>• Geo-fence polygon point-in-polygon verification</a:t>
            </a:r>
            <a:br/>
            <a:r>
              <a:t>• Automated exam eligibility calculation service</a:t>
            </a:r>
            <a:br/>
            <a:r>
              <a:t>• WebSockets live classroom headcount broadcaster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3: DevOps &amp; Security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3 (AI Vision &amp; Security Specialist):</a:t>
            </a:r>
            <a:br/>
            <a:r>
              <a:t>• MediaPipe face recognition kiosk with liveness blink</a:t>
            </a:r>
            <a:br/>
            <a:r>
              <a:t>• Medical certificate OCR upload &amp; condonation pipeline</a:t>
            </a:r>
            <a:br/>
            <a:r>
              <a:t>• Mock GPS detection (Android mock provider flags)</a:t>
            </a:r>
            <a:br/>
            <a:r>
              <a:t>• Automated parent/student SMS and email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Calibri"/>
              </a:defRPr>
            </a:pPr>
            <a:r>
              <a:t>TEAM 3 WORKFLOW &amp; ROLE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A"/>
                </a:solidFill>
                <a:latin typeface="Calibri"/>
              </a:defRPr>
            </a:pPr>
            <a:r>
              <a:t>Module 3: AI-Proctored Examination Suite (EduExam AI)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0F294A"/>
          </a:solidFill>
          <a:ln w="12700">
            <a:solidFill>
              <a:srgbClr val="0F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Provides a high-security online examination environment with fullscreen lockdown, client-side AI computer vision proctoring, and network-resilient state sync.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1: Frontend &amp; UX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1 (Frontend &amp; Exam Shell Lead):</a:t>
            </a:r>
            <a:br/>
            <a:r>
              <a:t>• Fullscreen lockdown browser mode &amp; event traps</a:t>
            </a:r>
            <a:br/>
            <a:r>
              <a:t>• Disable copy/paste, Alt+Tab, and right-click shortcuts</a:t>
            </a:r>
            <a:br/>
            <a:r>
              <a:t>• KaTeX formula editor &amp; rich question display</a:t>
            </a:r>
            <a:br/>
            <a:r>
              <a:t>• Countdown timer with automatic submission trigger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2: Backend &amp; Logic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2 (Backend &amp; Telemetry Architect):</a:t>
            </a:r>
            <a:br/>
            <a:r>
              <a:t>• Randomized question bank delivery &amp; option shuffler</a:t>
            </a:r>
            <a:br/>
            <a:r>
              <a:t>• Incremental answer auto-save with idempotency nonces</a:t>
            </a:r>
            <a:br/>
            <a:r>
              <a:t>• WebSocket heartbeat for disconnection tolerance</a:t>
            </a:r>
            <a:br/>
            <a:r>
              <a:t>• Automated objective grading &amp; subjective rubric sync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3: DevOps &amp; Security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3 (AI Vision &amp; Integrity Lead):</a:t>
            </a:r>
            <a:br/>
            <a:r>
              <a:t>• Client MediaPipe face &amp; gaze deviation detection</a:t>
            </a:r>
            <a:br/>
            <a:r>
              <a:t>• Multi-person presence &amp; missing face alert flags</a:t>
            </a:r>
            <a:br/>
            <a:r>
              <a:t>• Background audio noise spike analyzer</a:t>
            </a:r>
            <a:br/>
            <a:r>
              <a:t>• Encrypted violation snapshot aggregator &amp; risk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Calibri"/>
              </a:defRPr>
            </a:pPr>
            <a:r>
              <a:t>TEAM 4 WORKFLOW &amp; ROLE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A"/>
                </a:solidFill>
                <a:latin typeface="Calibri"/>
              </a:defRPr>
            </a:pPr>
            <a:r>
              <a:t>Module 4: Code Execution Arena &amp; Auto-Judge (EduCode Judge)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0F294A"/>
          </a:solidFill>
          <a:ln w="12700">
            <a:solidFill>
              <a:srgbClr val="0F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Scalable coding practice and assessment platform with Monaco IDE, isolated containerized code execution workers, and AST plagiarism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1: Frontend &amp; UX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1 (Frontend &amp; IDE Experience Lead):</a:t>
            </a:r>
            <a:br/>
            <a:r>
              <a:t>• Monaco Editor integration with multi-language support</a:t>
            </a:r>
            <a:br/>
            <a:r>
              <a:t>• Custom dark themes, autocomplete, and syntax linting</a:t>
            </a:r>
            <a:br/>
            <a:r>
              <a:t>• Stdin input console &amp; stdout/stderr execution tabs</a:t>
            </a:r>
            <a:br/>
            <a:r>
              <a:t>• Real-time problem contest leaderboards &amp; streaks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2: Backend &amp; Logic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2 (Judge Backend &amp; Task Queues):</a:t>
            </a:r>
            <a:br/>
            <a:r>
              <a:t>• BullMQ distributed task queue in Redis</a:t>
            </a:r>
            <a:br/>
            <a:r>
              <a:t>• Test case runner evaluating AC, WA, TLE, and MLE</a:t>
            </a:r>
            <a:br/>
            <a:r>
              <a:t>• Problem creation portal with hidden test cases</a:t>
            </a:r>
            <a:br/>
            <a:r>
              <a:t>• Execution verdict formatter and runtime 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3: DevOps &amp; Security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3 (Sandbox Security &amp; AST Plagiarism):</a:t>
            </a:r>
            <a:br/>
            <a:r>
              <a:t>• Docker Engine SDK with gVisor (runsc) kernel jail</a:t>
            </a:r>
            <a:br/>
            <a:r>
              <a:t>• Strict cgroups limits: 256MB RAM, 1 CPU, no network</a:t>
            </a:r>
            <a:br/>
            <a:r>
              <a:t>• Python AST tokenization code similarity analyzer</a:t>
            </a:r>
            <a:br/>
            <a:r>
              <a:t>• Fork bomb mitigation (--pids-limit 64) &amp; tmpfs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Calibri"/>
              </a:defRPr>
            </a:pPr>
            <a:r>
              <a:t>TEAM 5 WORKFLOW &amp; ROLE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A"/>
                </a:solidFill>
                <a:latin typeface="Calibri"/>
              </a:defRPr>
            </a:pPr>
            <a:r>
              <a:t>Module 5: AI Presentation &amp; Virtual Viva (EduPresent AI)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0F294A"/>
          </a:solidFill>
          <a:ln w="12700">
            <a:solidFill>
              <a:srgbClr val="0F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Live WebRTC virtual defense studio analyzing vocal delivery, eye contact, and slide alignment, while autonomously generating probing technical viva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1: Frontend &amp; UX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1 (WebRTC Studio &amp; Presentation Lead):</a:t>
            </a:r>
            <a:br/>
            <a:r>
              <a:t>• Live WebRTC video/audio presentation stage</a:t>
            </a:r>
            <a:br/>
            <a:r>
              <a:t>• Synchronized PDF/PPTX slide viewer with laser pointer</a:t>
            </a:r>
            <a:br/>
            <a:r>
              <a:t>• Evaluator interactive rubric scoring panel</a:t>
            </a:r>
            <a:br/>
            <a:r>
              <a:t>• Audience chat and hand-raise moderation queue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2: Backend &amp; Logic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2 (Multi-Modal AI Pipeline Architect):</a:t>
            </a:r>
            <a:br/>
            <a:r>
              <a:t>• OpenAI Whisper speech-to-text live transcription</a:t>
            </a:r>
            <a:br/>
            <a:r>
              <a:t>• Speech pace calculation (words per minute) &amp; pitch</a:t>
            </a:r>
            <a:br/>
            <a:r>
              <a:t>• Filler-word detector ('um', 'like', 'you know')</a:t>
            </a:r>
            <a:br/>
            <a:r>
              <a:t>• Real-time AI technical viva question generator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3: DevOps &amp; Security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3 (Computer Vision &amp; Slide Alignment):</a:t>
            </a:r>
            <a:br/>
            <a:r>
              <a:t>• MediaPipe camera eye contact &amp; posture evaluator</a:t>
            </a:r>
            <a:br/>
            <a:r>
              <a:t>• Slide text extraction &amp; vector semantic match score</a:t>
            </a:r>
            <a:br/>
            <a:r>
              <a:t>• DTLS-SRTP WebRTC encryption &amp; slide watermarking</a:t>
            </a:r>
            <a:br/>
            <a:r>
              <a:t>• Automated composite PDF performance dossier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Calibri"/>
              </a:defRPr>
            </a:pPr>
            <a:r>
              <a:t>TEAM 6 WORKFLOW &amp; ROLE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A"/>
                </a:solidFill>
                <a:latin typeface="Calibri"/>
              </a:defRPr>
            </a:pPr>
            <a:r>
              <a:t>Module 6: RAG Campus Knowledge Assistant (EduAssist AI)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0F294A"/>
          </a:solidFill>
          <a:ln w="12700">
            <a:solidFill>
              <a:srgbClr val="0F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Enterprise RAG assistant grounding student and staff queries in verified university handbooks, academic regulations, and syllabus documents.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1: Frontend &amp; UX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1 (Conversational UX Lead):</a:t>
            </a:r>
            <a:br/>
            <a:r>
              <a:t>• Streaming AI chat UI with markdown and KaTeX</a:t>
            </a:r>
            <a:br/>
            <a:r>
              <a:t>• Syntax-highlighted code explanation cards</a:t>
            </a:r>
            <a:br/>
            <a:r>
              <a:t>• Clickable source citation popups (document &amp; page)</a:t>
            </a:r>
            <a:br/>
            <a:r>
              <a:t>• Student coding tutor mode with guided hints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2: Backend &amp; Logic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2 (RAG Ingestion &amp; Pipeline Lead):</a:t>
            </a:r>
            <a:br/>
            <a:r>
              <a:t>• PDF/DOCX document text extraction &amp; semantic chunking</a:t>
            </a:r>
            <a:br/>
            <a:r>
              <a:t>• LangChain / LlamaIndex embedding pipeline</a:t>
            </a:r>
            <a:br/>
            <a:r>
              <a:t>• Hybrid semantic vector search + keyword BM25</a:t>
            </a:r>
            <a:br/>
            <a:r>
              <a:t>• Unresolved query ticketing escalation to helpdesk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3: DevOps &amp; Security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3 (Vector Database &amp; Prompt Security):</a:t>
            </a:r>
            <a:br/>
            <a:r>
              <a:t>• PostgreSQL pgvector extension with HNSW cosine indexes</a:t>
            </a:r>
            <a:br/>
            <a:r>
              <a:t>• Role-based document access partitions (Student vs Staff)</a:t>
            </a:r>
            <a:br/>
            <a:r>
              <a:t>• System prompt injection defense &amp; policy filters</a:t>
            </a:r>
            <a:br/>
            <a:r>
              <a:t>• Latency optimization, Redis caching &amp; query telemetry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Calibri"/>
              </a:defRPr>
            </a:pPr>
            <a:r>
              <a:t>TEAM 7 WORKFLOW &amp; ROLE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A"/>
                </a:solidFill>
                <a:latin typeface="Calibri"/>
              </a:defRPr>
            </a:pPr>
            <a:r>
              <a:t>Module 7: UniHub Git Repo &amp; Research Archive (UniHub)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0F294A"/>
          </a:solidFill>
          <a:ln w="12700">
            <a:solidFill>
              <a:srgbClr val="0F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Self-hosted GitHub and arXiv hybrid for university capstone software, Git branch exploration, research paper pre-prints, and campus innovation feeds.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1: Frontend &amp; UX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1 (Git Web UI &amp; Discovery Lead):</a:t>
            </a:r>
            <a:br/>
            <a:r>
              <a:t>• Git file tree navigator &amp; syntax code browser</a:t>
            </a:r>
            <a:br/>
            <a:r>
              <a:t>• Visual commit branch graphs &amp; side-by-side diffs</a:t>
            </a:r>
            <a:br/>
            <a:r>
              <a:t>• Capstone showcase gallery with stars &amp; live demos</a:t>
            </a:r>
            <a:br/>
            <a:r>
              <a:t>• In-browser PDF research manuscript previewer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2: Backend &amp; Logic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2 (Git Engine &amp; Paper Indexer):</a:t>
            </a:r>
            <a:br/>
            <a:r>
              <a:t>• Git HTTP smart protocol backend (packfiles, commits)</a:t>
            </a:r>
            <a:br/>
            <a:r>
              <a:t>• Manuscript metadata parser (title, abstract, authors)</a:t>
            </a:r>
            <a:br/>
            <a:r>
              <a:t>• Automated BibTeX citation generator &amp; DOI tracking</a:t>
            </a:r>
            <a:br/>
            <a:r>
              <a:t>• Capstone repository creation wizard with READMEs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2402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Student 3: DevOps &amp; Security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Student 3 (Storage, Activity Feeds &amp; Security):</a:t>
            </a:r>
            <a:br/>
            <a:r>
              <a:t>• MinIO S3 object store for bare repos &amp; paper PDFs</a:t>
            </a:r>
            <a:br/>
            <a:r>
              <a:t>• Real-time campus innovation activity event stream</a:t>
            </a:r>
            <a:br/>
            <a:r>
              <a:t>• Repository access control (Public, Dept, Private)</a:t>
            </a:r>
            <a:br/>
            <a:r>
              <a:t>• Secret scanning linter preventing API key leaks in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Calibri"/>
              </a:defRPr>
            </a:pPr>
            <a:r>
              <a:t>DEVELOPMENT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A"/>
                </a:solidFill>
                <a:latin typeface="Calibri"/>
              </a:defRPr>
            </a:pPr>
            <a:r>
              <a:t>Git &amp; GitHub Monorepo Collaboration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F4E79"/>
                </a:solidFill>
                <a:latin typeface="Calibri"/>
              </a:defRPr>
            </a:pPr>
            <a:r>
              <a:t>Turborepo Monorepo Structure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• apps/web-portal (Central Next.js shell)</a:t>
            </a:r>
            <a:br/>
            <a:r>
              <a:t>• apps/hrms, apps/attend, apps/exams</a:t>
            </a:r>
            <a:br/>
            <a:r>
              <a:t>• apps/judge, apps/present, apps/ai, apps/unihub</a:t>
            </a:r>
            <a:br/>
            <a:r>
              <a:t>• packages/ui (Shared Tailwind/Shadcn tokens)</a:t>
            </a:r>
            <a:br/>
            <a:r>
              <a:t>• packages/auth (JWT SSO middleware)</a:t>
            </a:r>
            <a:br/>
            <a:r>
              <a:t>• packages/database (Prisma ORM &amp; PostgreSQL)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F4E79"/>
                </a:solidFill>
                <a:latin typeface="Calibri"/>
              </a:defRPr>
            </a:pPr>
            <a:r>
              <a:t>Branching &amp; PR Protection Rules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• Main branch: Production locked</a:t>
            </a:r>
            <a:br/>
            <a:r>
              <a:t>• Staging branch: Integration baseline</a:t>
            </a:r>
            <a:br/>
            <a:r>
              <a:t>• Branch naming: team&lt;N&gt;/feat-&lt;feature-name&gt;</a:t>
            </a:r>
            <a:br/>
            <a:r>
              <a:t>• Mandatory 2 approving reviews per PR</a:t>
            </a:r>
            <a:br/>
            <a:r>
              <a:t>• No direct pushes allowed to main/staging</a:t>
            </a:r>
            <a:br/>
            <a:r>
              <a:t>• Squash &amp; Merge for linear git histories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F4E79"/>
                </a:solidFill>
                <a:latin typeface="Calibri"/>
              </a:defRPr>
            </a:pPr>
            <a:r>
              <a:t>Automated CI/CD Quality Gates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• pnpm lint: 0 ESLint warnings required</a:t>
            </a:r>
            <a:br/>
            <a:r>
              <a:t>• pnpm typecheck: Strict tsc validation</a:t>
            </a:r>
            <a:br/>
            <a:r>
              <a:t>• pnpm test: Minimum 80% Jest coverage</a:t>
            </a:r>
            <a:br/>
            <a:r>
              <a:t>• pnpm prisma validate: Schema consistency</a:t>
            </a:r>
            <a:br/>
            <a:r>
              <a:t>• Docker build verification on pull request</a:t>
            </a:r>
            <a:br/>
            <a:r>
              <a:t>• Security dependency scan (Trivy / Snyk)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Calibri"/>
              </a:defRPr>
            </a:pPr>
            <a:r>
              <a:t>MASTER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A"/>
                </a:solidFill>
                <a:latin typeface="Calibri"/>
              </a:defRPr>
            </a:pPr>
            <a:r>
              <a:t>How Everything Combines: Ingress &amp; Shared Contracts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F4E79"/>
                </a:solidFill>
                <a:latin typeface="Calibri"/>
              </a:defRPr>
            </a:pPr>
            <a:r>
              <a:t>Step 1: Central SSO Gateway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All 7 modules consume the same JWT authentication claims. A single login grants role-scoped access across HRMS, Attendance, Exams, Code Arena, Presentations, and Repositories.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F4E79"/>
                </a:solidFill>
                <a:latin typeface="Calibri"/>
              </a:defRPr>
            </a:pPr>
            <a:r>
              <a:t>Step 2: Shared UI Design System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Teams build with components from `packages/ui` (buttons, modals, tables, badges). When pages merge into the central Next.js shell, visual design and branding are 100% harmonious.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F4E79"/>
                </a:solidFill>
                <a:latin typeface="Calibri"/>
              </a:defRPr>
            </a:pPr>
            <a:r>
              <a:t>Step 3: Database Referential Integrity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All tables reside in PostgreSQL 16 managed by Prisma ORM. Foreign keys link attendance records to exam eligibility, and student code submissions to capstone repositories.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062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F4E79"/>
                </a:solidFill>
                <a:latin typeface="Calibri"/>
              </a:defRPr>
            </a:pPr>
            <a:r>
              <a:t>Step 4: Cross-Module Event Bus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Redis Pub/Sub and BullMQ handle cross-module triggers: Attendance &lt;75% locks Exam Hall Tickets; Presentation scores publish to HRMS transcripts; Git commits trigger Activity feed.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Calibri"/>
              </a:defRPr>
            </a:pPr>
            <a:r>
              <a:t>SECURITY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A"/>
                </a:solidFill>
                <a:latin typeface="Calibri"/>
              </a:defRPr>
            </a:pPr>
            <a:r>
              <a:t>Automated Testing, QA &amp; Defensive Cybersecurity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F4E79"/>
                </a:solidFill>
                <a:latin typeface="Calibri"/>
              </a:defRPr>
            </a:pPr>
            <a:r>
              <a:t>OWASP Top 10 Hardening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• Parameterized queries (Zero SQL injection)</a:t>
            </a:r>
            <a:br/>
            <a:r>
              <a:t>• Zod request validation on all inputs</a:t>
            </a:r>
            <a:br/>
            <a:r>
              <a:t>• Argon2id password hashing + TLS 1.3</a:t>
            </a:r>
            <a:br/>
            <a:r>
              <a:t>• SameSite=Strict cookies + Redis token blacklist</a:t>
            </a:r>
            <a:br/>
            <a:r>
              <a:t>• Rate limiting on auth &amp; execution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F4E79"/>
                </a:solidFill>
                <a:latin typeface="Calibri"/>
              </a:defRPr>
            </a:pPr>
            <a:r>
              <a:t>Student Code Sandbox Jail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• gVisor (runsc) kernel-level container jail</a:t>
            </a:r>
            <a:br/>
            <a:r>
              <a:t>• --network none (Zero outbound network access)</a:t>
            </a:r>
            <a:br/>
            <a:r>
              <a:t>• Resource limits: 256MB RAM, 1 CPU core</a:t>
            </a:r>
            <a:br/>
            <a:r>
              <a:t>• Fork bomb termination (--pids-limit 64)</a:t>
            </a:r>
            <a:br/>
            <a:r>
              <a:t>• Ephemeral in-memory tmpfs (/tmp:rw,16m)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F4E79"/>
                </a:solidFill>
                <a:latin typeface="Calibri"/>
              </a:defRPr>
            </a:pPr>
            <a:r>
              <a:t>Anti-Cheat &amp; Anti-Proxy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• 5s rotating HMAC QR eliminates screenshots</a:t>
            </a:r>
            <a:br/>
            <a:r>
              <a:t>• Geofence polygon + mock GPS detector</a:t>
            </a:r>
            <a:br/>
            <a:r>
              <a:t>• MediaPipe face liveness &amp; gaze deviation flags</a:t>
            </a:r>
            <a:br/>
            <a:r>
              <a:t>• WebRTC DTLS-SRTP encrypted streams</a:t>
            </a:r>
            <a:br/>
            <a:r>
              <a:t>• Watermarked capstone presentation slides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Calibri"/>
              </a:defRPr>
            </a:pPr>
            <a:r>
              <a:t>EVALUATION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A"/>
                </a:solidFill>
                <a:latin typeface="Calibri"/>
              </a:defRPr>
            </a:pPr>
            <a:r>
              <a:t>Staging Integration &amp; Capstone Evaluation Rubric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  <a:latin typeface="Calibri"/>
              </a:defRPr>
            </a:pPr>
            <a:r>
              <a:t>Architecture &amp; Code Quality (25%)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Adherence to clean architecture, TypeScript strict typing, normalized database schema, zero lint warnings, and modular folder 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69848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1576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  <a:latin typeface="Calibri"/>
              </a:defRPr>
            </a:pPr>
            <a:r>
              <a:t>Feature Completeness &amp; Zero Broken Flows (30%)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100% functional user journeys. Every button leads to an active page; no placeholders, no 'to-be-implemented' comments, full error boundaries.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5020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  <a:latin typeface="Calibri"/>
              </a:defRPr>
            </a:pPr>
            <a:r>
              <a:t>Multi-Modal AI &amp; Security Hardening (25%)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Robust implementation of AI models (face liveness, speech transcription, vector RAG, code sandbox jail) and verified anti-cheating mechanisms.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69848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8464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  <a:latin typeface="Calibri"/>
              </a:defRPr>
            </a:pPr>
            <a:r>
              <a:t>Team Collaboration &amp; Git Hygiene (20%)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Active participation by all 3 team members, adherence to PR review standards, clean commit messages, and automated CI passing.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READY FOR EXECUTION: NEXT ACTIONS FOR STUDENT TEAMS</a:t>
            </a:r>
          </a:p>
          <a:p>
            <a:pPr>
              <a:spcAft>
                <a:spcPts val="18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UniSphere Master Implementation Kickoff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1. Team Formation: 7 teams of 3 students finalize role assignments (Student 1: Frontend, Student 2: Backend, Student 3: DevOps/Security).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2. Monorepo Clone: Clone the repository, run `pnpm install`, and verify local `docker-compose up` launches PostgreSQL, Redis, and MinIO.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3. Sprint 1 Kickoff: Implement core database migrations from `packages/database` and establish basic API endpoints.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4. Interface Contract Freeze: Review OpenAPI specifications in `PROJECT_SPECIFICATION.md` to ensure zero cross-module breaking changes.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5. Weekly Standups: Conduct weekly bi-directional code reviews and demo working prototypes at the end of each two-week sprint.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